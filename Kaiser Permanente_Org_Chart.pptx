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Kaiser Permanente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9000"/>
            <a:ext cx="12191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70AFCC"/>
                </a:solidFill>
                <a:latin typeface="Arial"/>
              </a:rPr>
              <a:t>Organizational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AA5AB"/>
                </a:solidFill>
                <a:latin typeface="Arial"/>
              </a:rPr>
              <a:t>Prepared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Disclaimer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371600"/>
            <a:ext cx="113687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•  Organograms are a graphical representation of an organization’s hierarchy. Their purpose is to illustrate the reporting relationships and chain of command within an organization.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•  This deck was generated directly from the source workbook: one department per tab, using each tab’s “ReportsToName” column to build the reporting tree, with no manual changes to the underlying data.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•  Each person’s title line shows their Designation and Department exactly as recorded in the workbook.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•  Where a person’s manager is not listed within the same department tab, that person is shown as a top-level box for that department.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•  Departments with a large number of direct reports are split across multiple slides; the manager is repeated at the top of each continuation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0915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33333"/>
                </a:solidFill>
                <a:latin typeface="Arial"/>
              </a:rPr>
              <a:t>Box border color denotes hierarchy level: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411480" y="5074920"/>
            <a:ext cx="1737360" cy="457200"/>
          </a:xfrm>
          <a:prstGeom prst="snip2DiagRect">
            <a:avLst/>
          </a:prstGeom>
          <a:solidFill>
            <a:srgbClr val="FFFFFF"/>
          </a:solidFill>
          <a:ln w="1905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C3649"/>
                </a:solidFill>
                <a:latin typeface="Arial"/>
              </a:rPr>
              <a:t>Level 1</a:t>
            </a:r>
          </a:p>
        </p:txBody>
      </p:sp>
      <p:sp>
        <p:nvSpPr>
          <p:cNvPr id="7" name="Snip Diagonal Corner Rectangle 6"/>
          <p:cNvSpPr/>
          <p:nvPr/>
        </p:nvSpPr>
        <p:spPr>
          <a:xfrm>
            <a:off x="2377440" y="5074920"/>
            <a:ext cx="1737360" cy="457200"/>
          </a:xfrm>
          <a:prstGeom prst="snip2DiagRect">
            <a:avLst/>
          </a:prstGeom>
          <a:solidFill>
            <a:srgbClr val="FFFFFF"/>
          </a:solidFill>
          <a:ln w="1905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47490"/>
                </a:solidFill>
                <a:latin typeface="Arial"/>
              </a:rPr>
              <a:t>Level 2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4343400" y="5074920"/>
            <a:ext cx="1737360" cy="457200"/>
          </a:xfrm>
          <a:prstGeom prst="snip2DiagRect">
            <a:avLst/>
          </a:prstGeom>
          <a:solidFill>
            <a:srgbClr val="FFFFFF"/>
          </a:solidFill>
          <a:ln w="1905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396BB"/>
                </a:solidFill>
                <a:latin typeface="Arial"/>
              </a:rPr>
              <a:t>Level 3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6309360" y="5074920"/>
            <a:ext cx="1737360" cy="457200"/>
          </a:xfrm>
          <a:prstGeom prst="snip2DiagRect">
            <a:avLst/>
          </a:prstGeom>
          <a:solidFill>
            <a:srgbClr val="FFFFFF"/>
          </a:solidFill>
          <a:ln w="1905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0AFCC"/>
                </a:solidFill>
                <a:latin typeface="Arial"/>
              </a:rPr>
              <a:t>Level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Board Of Directors (1/4)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Chairman, Board of Directors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Matthew Ryan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Jenny J. Ming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Judith A. Johansen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David F. Hoffmeister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Board Of Directors (2/4)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Chairman, Board of Directors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Leslie S. Heisz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Jeff Epstein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Regina Benjamin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David J. Barger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Board Of Directors (3/4)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Chairman, Board of Directors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Ramón Baez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A. Eugene Washington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Vivek Sharma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Richard P. Shannon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Board Of Directors (4/4)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Chairman, Board of Directors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Jonathan S. Lewin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Cynthia A. Telles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Member, Board of Directors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Executive Management (1/6)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Executive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38447" y="3817620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384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31240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Jeffrey Krawcek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KP Medical Foundation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51814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Jackie Baratian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Compliance and Privacy Officer, Compliance &amp; Privacy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32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72388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Paul Swenson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Advisor, Strategic Projects, Kaiser Foundation Health Plan, Inc. and Hospitals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Executive Management (2/6)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62101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Executive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245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2738627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Sam Glick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Vice President, Strategy, Business Development, Government Relations, Communications, Innovation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31240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Shelby Decosta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Business Development Officer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20953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Paul Minardi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Vice President, Enterprise Clinical Integration and Growth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41527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Tom Curtin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 and Chief Growth Officer, Commercial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671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384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384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09747" y="4896612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097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671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245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nip Diagonal Corner Rectangle 18"/>
          <p:cNvSpPr/>
          <p:nvPr/>
        </p:nvSpPr>
        <p:spPr>
          <a:xfrm>
            <a:off x="62101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Andy Bindman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Medical Officer, Medical Operations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819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nip Diagonal Corner Rectangle 20"/>
          <p:cNvSpPr/>
          <p:nvPr/>
        </p:nvSpPr>
        <p:spPr>
          <a:xfrm>
            <a:off x="82675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Vanessa M. Benavides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Legal Officer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Executive Management (3/6)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Executive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2738627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Bechara Choucair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Health Officer, Health Operations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Brandon Cuevas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Vice President, National Health Plan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41527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Michael Ramseier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Health Plan Markets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671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671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671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245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nip Diagonal Corner Rectangle 17"/>
          <p:cNvSpPr/>
          <p:nvPr/>
        </p:nvSpPr>
        <p:spPr>
          <a:xfrm>
            <a:off x="62101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Kathy Lancaster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819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nip Diagonal Corner Rectangle 19"/>
          <p:cNvSpPr/>
          <p:nvPr/>
        </p:nvSpPr>
        <p:spPr>
          <a:xfrm>
            <a:off x="82675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Greg Holmes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Human Resources Officer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Executive Management (4/6)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Executive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Carrie Owen Plietz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Group Senior Vice President and Chief Operating Officer, Care Delivery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Michelle Gaskill-Hames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Southern California &amp; Hawaii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Ed Chan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Market President, Hawaii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Craig Albanese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President, Integrated Care and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Executive Management (5/6)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Executive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Mike Bowers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Northern California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Cynthia Dold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Washington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Cortney Eisses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Colorado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Corwin Harper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Georgia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Executive Management (6/6)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Adams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Executive Officer, Executive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Emily Holliman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Interim Regional President, Mid-Atlantic States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Wendy Watson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Northwest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Beth Leonard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Public Affairs Officer, Senior Vice President, Marketing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Marketing Org (1/4)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672449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Sam Glick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Vice President, Strategy, Business Development, Government Relations, Communications, Innovation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3889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2738627"/>
            <a:ext cx="51435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Kristy LoRusso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National Chief Marketing Officer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10666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Keith Forrester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Marketing, Sales &amp; Business Development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31240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Sara Frampton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Customer Analytics &amp; Reporting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31240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Marti O.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Consumer Marketing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51814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Duyen Nguyen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Digital Strategy, Value &amp; Transformation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72388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Ruben Burnett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National Consultant Relations</a:t>
            </a:r>
          </a:p>
        </p:txBody>
      </p:sp>
      <p:sp>
        <p:nvSpPr>
          <p:cNvPr id="14" name="Snip Diagonal Corner Rectangle 13"/>
          <p:cNvSpPr/>
          <p:nvPr/>
        </p:nvSpPr>
        <p:spPr>
          <a:xfrm>
            <a:off x="72388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Jessica Lott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National Maketing Operations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671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810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810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384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384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384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58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532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532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532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06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nip Diagonal Corner Rectangle 25"/>
          <p:cNvSpPr/>
          <p:nvPr/>
        </p:nvSpPr>
        <p:spPr>
          <a:xfrm>
            <a:off x="92962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Chrissie Cooper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Government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Marketing Org (2/4)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406130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Kristy LoRusso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National Chief Marketing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7570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18307" y="3817620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183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039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Sean Seitzinger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Brand and Consumer Marketing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757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0613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Eva Heath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Commercial Group Growth &amp; Retention Marketing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31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1187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Gracelyn McDermott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 and General Manager, Commercial Business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835898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Beth Leonard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Public Affairs Officer, Senior Vice President, Marketing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7338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338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nip Diagonal Corner Rectangle 15"/>
          <p:cNvSpPr/>
          <p:nvPr/>
        </p:nvSpPr>
        <p:spPr>
          <a:xfrm>
            <a:off x="835898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Yvette Radford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External &amp; Community Affair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Marketing Org (3/4)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Nicole Lorey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Communications Officer, Southern California Permanente Medical Group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278123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Rick Ginley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Corporate Communications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Amanda Higgins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Communications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Amy Whited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Communications, Marketing &amp; Community Relations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Richard Robinson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Brand, Communications and Marketing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82675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Chantel Mandel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National Communications - Reputation 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19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19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Marketing Org (4/4)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Nicole Lorey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Communications Officer, Southern California Permanente Medical Group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John Nelson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Communications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Debra Amos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Data &amp; Analytics - Business Intelligence &amp; Insights (BII) &amp;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(1/10)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09000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Mike Bowers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Northern California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440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9607" y="3278123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896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9752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Gregory Smith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Northern Pharmacy Operations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044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50900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Kathryn Brown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Operations, Pharmacy Services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303260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Laurel Junk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Enterprise Shared Services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509000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Marty Ardron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Hospital System Operations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714740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Don Orndoff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Facilities Services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0440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47007" y="4357116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4700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0440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6180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nip Diagonal Corner Rectangle 18"/>
          <p:cNvSpPr/>
          <p:nvPr/>
        </p:nvSpPr>
        <p:spPr>
          <a:xfrm>
            <a:off x="938768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Cynthia Dold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Washington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(2/10)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700887" y="3506724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Cortney Eisses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Colorado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2941167" y="3506724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Corwin Harper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Georgia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5181447" y="3506724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Emily Holliman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Interim Regional President, Mid-Atlantic States</a:t>
            </a:r>
          </a:p>
        </p:txBody>
      </p:sp>
      <p:sp>
        <p:nvSpPr>
          <p:cNvPr id="7" name="Snip Diagonal Corner Rectangle 6"/>
          <p:cNvSpPr/>
          <p:nvPr/>
        </p:nvSpPr>
        <p:spPr>
          <a:xfrm>
            <a:off x="7421727" y="3506724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Wendy Watson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Northwest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9662007" y="3506724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Ed Chan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Market President, Hawaii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(3/10)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Michelle Gaskill-Hames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Regional President, Southern California &amp; Hawaii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Tad Funahash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Innovation &amp; Transformation Officer, KP Southern California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Eric L. Williams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Senior Vice President, Southern California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(4/10)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Andy Bindman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Medical Officer, Medical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Phyllis Doulaveris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Patient Care Services &amp; Chief Nurse Executive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Patricia (Patti) Clausen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Executive Healthcare Leader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Kiran Gadde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Medicare Strategy Implementation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Stephanie Ledesma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Health Plan Enablement &amp;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(5/10)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396986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Bechara Choucair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Health Officer, Health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8426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5556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294116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Brandon Cuevas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Vice President, National Health Plan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191246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Michael Ramseier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Health Plan Markets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396986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Mitchell Winnik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Area Manager, CEO Hospital &amp; Health Plan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5556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26867" y="4357116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2686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8426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62101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Carrie Owen Plietz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Group Senior Vice President and Chief Operating Officer, Care Delivery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45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245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Diagonal Corner Rectangle 16"/>
          <p:cNvSpPr/>
          <p:nvPr/>
        </p:nvSpPr>
        <p:spPr>
          <a:xfrm>
            <a:off x="62101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Brandon Pace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Continuum of Care, Northern California</a:t>
            </a:r>
          </a:p>
        </p:txBody>
      </p:sp>
      <p:sp>
        <p:nvSpPr>
          <p:cNvPr id="18" name="Snip Diagonal Corner Rectangle 17"/>
          <p:cNvSpPr/>
          <p:nvPr/>
        </p:nvSpPr>
        <p:spPr>
          <a:xfrm>
            <a:off x="845042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Craig Albanese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President, Integrated Care and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(6/10)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278123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Ozzie Martinez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Administration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20953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Maybelle Liquigan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Administration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97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097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671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nip Diagonal Corner Rectangle 12"/>
          <p:cNvSpPr/>
          <p:nvPr/>
        </p:nvSpPr>
        <p:spPr>
          <a:xfrm>
            <a:off x="41527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John Chew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Administration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45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Diagonal Corner Rectangle 14"/>
          <p:cNvSpPr/>
          <p:nvPr/>
        </p:nvSpPr>
        <p:spPr>
          <a:xfrm>
            <a:off x="62101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Goran Kalas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Business Planning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19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Diagonal Corner Rectangle 16"/>
          <p:cNvSpPr/>
          <p:nvPr/>
        </p:nvSpPr>
        <p:spPr>
          <a:xfrm>
            <a:off x="82675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Liz Sills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(7/10)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Isabel Cunningham Uibel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Administration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Robert Blair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Administration, Southern California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Alexander Rakul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Administrative Officer, Administration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Kerry Forde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(8/10)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92962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106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Laura Gallardo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Operations, Hospital/Health Plan Assistant Administrator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10666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Abhishek Dosi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Area Manager, Golden Gate Service Area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31240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Margie Harrier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Area Manager, Operations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51814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Jody Coy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Health Plan Member Services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72388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Toby Douglas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Medicaid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92962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Simon Borger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Mental Health and Wellness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81047" y="4357116"/>
            <a:ext cx="82296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810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384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532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106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(9/10)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Joseph B Tolentino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Operations, Orange County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Carrie Maloney Robertshaw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Parnika Kodali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Sanjit Kaur Sodhi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Operations Org (10/10)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406130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7570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9607" y="3278123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896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9752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Nanette Vergara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470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30326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Alexander Cao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Southern California Pharmacy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044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50900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Frank Titus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Group Operations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18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71474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Payman Roshan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Hospital (CEO)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938768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Chris Grant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0208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0208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nip Diagonal Corner Rectangle 17"/>
          <p:cNvSpPr/>
          <p:nvPr/>
        </p:nvSpPr>
        <p:spPr>
          <a:xfrm>
            <a:off x="938768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Steven Chyung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Chief Supply Chain and Procurement Executive</a:t>
            </a:r>
          </a:p>
        </p:txBody>
      </p:sp>
      <p:sp>
        <p:nvSpPr>
          <p:cNvPr id="19" name="Snip Diagonal Corner Rectangle 18"/>
          <p:cNvSpPr/>
          <p:nvPr/>
        </p:nvSpPr>
        <p:spPr>
          <a:xfrm>
            <a:off x="938768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Brian Richardson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Operating Officer, Operations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0208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0208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Sales Org (1/4)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200390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Shelby Decosta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Business Development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1830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183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20039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Paul Minardi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Vice President, Enterprise Clinical Integration and Growth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630158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Camille Applin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Area Manager - Southern California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1598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58587" y="3817620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5858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424418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Neal Miller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Multi-State, National Sales and Administration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598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630158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Lisa Capper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Area Vice President, California Sales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7338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nip Diagonal Corner Rectangle 15"/>
          <p:cNvSpPr/>
          <p:nvPr/>
        </p:nvSpPr>
        <p:spPr>
          <a:xfrm>
            <a:off x="835898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Cindy Green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Area Vice President, CA Strategic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Sales Org (2/4)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Tom Curtin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 and Chief Growth Officer, Commercial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Ray Fong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Strategic Market Planning &amp; Analytics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Cyndy Larsen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National Area Vice President, Occupational Sales and Account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Sales Org (3/4)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9988099" y="1926937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0C3649"/>
                </a:solidFill>
                <a:latin typeface="Arial"/>
              </a:rPr>
              <a:t>Shelby Decosta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Chief Business Development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884157" y="2536257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1896" y="2760271"/>
            <a:ext cx="0" cy="224015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955838" y="2984286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347490"/>
                </a:solidFill>
                <a:latin typeface="Arial"/>
              </a:rPr>
              <a:t>Sam Glick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Executive Vice President, Strategy, Business Development, Government Relations, Communications, Innovation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411480" y="4041634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4396BB"/>
                </a:solidFill>
                <a:latin typeface="Arial"/>
              </a:rPr>
              <a:t>Chris Hause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Chief Sales &amp; Marketing Officer, VP Commercial, Medicare, and Medicaid Markets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5451805" y="4041634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4396BB"/>
                </a:solidFill>
                <a:latin typeface="Arial"/>
              </a:rPr>
              <a:t>Camille Applin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Senior Vice President, Area Manager - Southern California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2427610" y="5098982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70AFCC"/>
                </a:solidFill>
                <a:latin typeface="Arial"/>
              </a:rPr>
              <a:t>Stacey Zanetti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Vice President, Sales, California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4443740" y="5098982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70AFCC"/>
                </a:solidFill>
                <a:latin typeface="Arial"/>
              </a:rPr>
              <a:t>Karen Urban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Vice President, Labor &amp; Trust Funds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6459871" y="5098982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70AFCC"/>
                </a:solidFill>
                <a:latin typeface="Arial"/>
              </a:rPr>
              <a:t>Nisha Melwani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Vice President, Multi-State &amp; NSAM Business Services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8476001" y="5098982"/>
            <a:ext cx="1792115" cy="609319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30" b="1">
                <a:solidFill>
                  <a:srgbClr val="70AFCC"/>
                </a:solidFill>
                <a:latin typeface="Arial"/>
              </a:rPr>
              <a:t>Karen Ford</a:t>
            </a:r>
          </a:p>
          <a:p>
            <a:pPr algn="ctr"/>
            <a:r>
              <a:rPr sz="783" b="0">
                <a:solidFill>
                  <a:srgbClr val="555555"/>
                </a:solidFill>
                <a:latin typeface="Arial"/>
              </a:rPr>
              <a:t>Vice President, Strategic Services &amp; Business Management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1896" y="3593605"/>
            <a:ext cx="0" cy="224015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07537" y="3817620"/>
            <a:ext cx="5040326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07537" y="3817620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47863" y="3817620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47863" y="4650953"/>
            <a:ext cx="0" cy="224015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23668" y="4874968"/>
            <a:ext cx="6048391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23668" y="4874968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39798" y="4874968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55929" y="4874968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72059" y="4874968"/>
            <a:ext cx="0" cy="224014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Sales Org (4/4)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Shelby Decosta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Business Development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Tom Curtin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 and Chief Growth Officer, Commercial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Angela Kohls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State Accounts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1527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Kimberly Johnson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National Sales &amp; Engagement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62101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April Coiteux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Commercial Business, Washington Region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82675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Sarah (Kelly) MacDonald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Strategy and Corporate Development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09747" y="4357116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097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671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245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19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Finance Org (1/4)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406130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Kathy Lancaster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7570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960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896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9752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Noel Baber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 Georgia Region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470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30326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Marcus J. Hoffman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Health Plan/Hospitals, Southern California &amp; Hawaii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044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Diagonal Corner Rectangle 11"/>
          <p:cNvSpPr/>
          <p:nvPr/>
        </p:nvSpPr>
        <p:spPr>
          <a:xfrm>
            <a:off x="50900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Linton White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Southern California &amp; Hawaii Markets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180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714740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John Bry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Washington Market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938768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Kathy Lancaster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0208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0208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nip Diagonal Corner Rectangle 17"/>
          <p:cNvSpPr/>
          <p:nvPr/>
        </p:nvSpPr>
        <p:spPr>
          <a:xfrm>
            <a:off x="938768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Thomas Lurquin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Investment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Finance Org (2/4)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Kathy Lancaster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Rob Beltch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Business Units and Finance Operations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Trish S. Lopez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SCPMG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Vincent Trac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Kaiser Foundation Health Plan &amp; Hospitals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41527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Rick King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Area Chief Financial Officer, San Diego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CJ Bhalla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Northern California region, CA Markets and National Planning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Derrick Chan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Enterprise Business Services and IT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82675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Reena M.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Area Chief Financial Officer, Finance, Orange County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671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671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819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819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Finance Org (3/4)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Kathy Lancaster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David Thomason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Controller and Chief Accounting Officer, Finance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Michael Walton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Tax Officer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Jennifer C.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Medical Center Finance Officer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Debbie Lew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Audit Executive, Finance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62101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Andrew See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Chief Actuary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Thomas Meier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Corporate Treasury, Kaiser Foundation Health 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245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245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Finance Org (4/4)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Kathy Lancaster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Finance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38447" y="3278123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384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31240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Alfonse Upshaw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Integrated Care and Coverage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Rebecca Williams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Financial Officer, Northwest Region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51814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Bradley Tinnermon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Finance Shared Services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58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532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Diagonal Corner Rectangle 14"/>
          <p:cNvSpPr/>
          <p:nvPr/>
        </p:nvSpPr>
        <p:spPr>
          <a:xfrm>
            <a:off x="72388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David Delaney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Finance Strategy, Planning and Performance</a:t>
            </a:r>
          </a:p>
        </p:txBody>
      </p:sp>
      <p:sp>
        <p:nvSpPr>
          <p:cNvPr id="16" name="Snip Diagonal Corner Rectangle 15"/>
          <p:cNvSpPr/>
          <p:nvPr/>
        </p:nvSpPr>
        <p:spPr>
          <a:xfrm>
            <a:off x="72388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Chris Clagg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National Pharmacy Finance and Human Resources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32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532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HR Org (1/4)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Holmes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Human Resources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278123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Rory Velasquez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Total Rewards and Performance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20953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Elena Trujillo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Executive Compensation &amp; Benefits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97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097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671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nip Diagonal Corner Rectangle 12"/>
          <p:cNvSpPr/>
          <p:nvPr/>
        </p:nvSpPr>
        <p:spPr>
          <a:xfrm>
            <a:off x="41527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Lionel Sims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Labor Relations &amp; OLMP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45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Diagonal Corner Rectangle 14"/>
          <p:cNvSpPr/>
          <p:nvPr/>
        </p:nvSpPr>
        <p:spPr>
          <a:xfrm>
            <a:off x="62101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Elizabeth Heinonen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HR, Talent Strategy &amp; Acquisition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19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Diagonal Corner Rectangle 16"/>
          <p:cNvSpPr/>
          <p:nvPr/>
        </p:nvSpPr>
        <p:spPr>
          <a:xfrm>
            <a:off x="82675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Marcel Delhommeau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Human Resources and Labor Relations - Southern California and Hawaii</a:t>
            </a:r>
          </a:p>
        </p:txBody>
      </p:sp>
      <p:sp>
        <p:nvSpPr>
          <p:cNvPr id="18" name="Snip Diagonal Corner Rectangle 17"/>
          <p:cNvSpPr/>
          <p:nvPr/>
        </p:nvSpPr>
        <p:spPr>
          <a:xfrm>
            <a:off x="82675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Laura Klenske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Benefits Strategy, Governance &amp; Operations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819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19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HR Org (2/4)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200390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Todd Trotter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Human Resources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1830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9607" y="3278123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896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9752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Brian Kaplan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National Benefits Administration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4700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303260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Stacey Mufson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Employee Relations, HR Compliance &amp; Risk Management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938768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Holmes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Human Resources Officer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0208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4468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Diagonal Corner Rectangle 13"/>
          <p:cNvSpPr/>
          <p:nvPr/>
        </p:nvSpPr>
        <p:spPr>
          <a:xfrm>
            <a:off x="733028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Jeremiah Gill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Human Resources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527288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Dan Cousins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Talent and Organizational Performance</a:t>
            </a:r>
          </a:p>
        </p:txBody>
      </p:sp>
      <p:sp>
        <p:nvSpPr>
          <p:cNvPr id="16" name="Snip Diagonal Corner Rectangle 15"/>
          <p:cNvSpPr/>
          <p:nvPr/>
        </p:nvSpPr>
        <p:spPr>
          <a:xfrm>
            <a:off x="733028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Angela Beaudry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Human Resources</a:t>
            </a:r>
          </a:p>
        </p:txBody>
      </p:sp>
      <p:sp>
        <p:nvSpPr>
          <p:cNvPr id="17" name="Snip Diagonal Corner Rectangle 16"/>
          <p:cNvSpPr/>
          <p:nvPr/>
        </p:nvSpPr>
        <p:spPr>
          <a:xfrm>
            <a:off x="938768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Jocelynne McAdory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Human Resources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4468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87287" y="4357116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8728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468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0208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HR Org (3/4)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Holmes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Human Resources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Todd Trotter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Human Resources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Kimberley Meredith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Human Resources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1527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Eldridge Banks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Human Resources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62101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Sandra Pham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Finance, People &amp; Culture - The Permanente Federation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82675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Jonathan Zilberstein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National Compensation and Performance Management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09747" y="4357116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097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671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245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19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HR Org (4/4)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72388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Greg Holmes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Human Resources Officer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532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Ronald L. Copeland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National Equity, Inclusion &amp; Diversity Strategy and Policy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31240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Jessica Bidlingmaier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Human Resources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51814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Laura Long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National Equity, Inclusion and Diversity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72388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Tim Stephens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Employee 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38447" y="4357116"/>
            <a:ext cx="41148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384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532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(1/10)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Jacob Burgess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Area Chief Information Officer, Information Technology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Pavan Attur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Area Information Officer, Information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(2/10)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Neil Cowles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and Technology Officer, Information 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09747" y="3278123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097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20953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Ashish Das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India Country Head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20953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Monika Chourasia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CIO India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97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097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nip Diagonal Corner Rectangle 12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Steve Press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Data Center Operations</a:t>
            </a:r>
          </a:p>
        </p:txBody>
      </p:sp>
      <p:sp>
        <p:nvSpPr>
          <p:cNvPr id="14" name="Snip Diagonal Corner Rectangle 13"/>
          <p:cNvSpPr/>
          <p:nvPr/>
        </p:nvSpPr>
        <p:spPr>
          <a:xfrm>
            <a:off x="41527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Mark Yakimisky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Pricing Systems and Data Services</a:t>
            </a:r>
          </a:p>
        </p:txBody>
      </p:sp>
      <p:sp>
        <p:nvSpPr>
          <p:cNvPr id="15" name="Snip Diagonal Corner Rectangle 14"/>
          <p:cNvSpPr/>
          <p:nvPr/>
        </p:nvSpPr>
        <p:spPr>
          <a:xfrm>
            <a:off x="62101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Pauny Rezai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Provider Data 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67147" y="4357116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671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245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19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nip Diagonal Corner Rectangle 20"/>
          <p:cNvSpPr/>
          <p:nvPr/>
        </p:nvSpPr>
        <p:spPr>
          <a:xfrm>
            <a:off x="82675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David Tuttle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Corporate Services, Technical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(3/10)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Gustavo Pospischel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AI, Data, Digital and Shared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Alexis Sgouros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Data Engineering and Platform Services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Alex Lowenthal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National Health Plan Analytics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1527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Paddy Gopalakrishnan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Product &amp; Platform Engineering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62101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Steve B.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Enterprise IT Delivery Experience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82675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Desmond Cullen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Enterprise Automation 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09747" y="4357116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097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671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245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19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(4/10)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Gustavo Pospischel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AI, Data, Digital and Shared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Michael Russo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Predictive Event Intelligence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Brian Denison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Digital Technologies Application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(5/10)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Neil Cowles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and Technology Officer, Information Technology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Ross Kwok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IT Shared Services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51814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Adam W.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Enterprise Technology Services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41527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Christian Madsen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Workplace and Facility Technologies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62101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Matt Shaw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Infrastructure Operations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Boyd Novak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Cloud &amp; Infrastructure Services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82675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Trevor Hogberg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Information Technology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67147" y="4896612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671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245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819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819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(6/10)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69579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1019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38447" y="2738627"/>
            <a:ext cx="30861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384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7"/>
          <p:cNvSpPr/>
          <p:nvPr/>
        </p:nvSpPr>
        <p:spPr>
          <a:xfrm>
            <a:off x="31240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Mark J. Simon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Ambulatory Operations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45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Diagonal Corner Rectangle 9"/>
          <p:cNvSpPr/>
          <p:nvPr/>
        </p:nvSpPr>
        <p:spPr>
          <a:xfrm>
            <a:off x="62101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Elliott Jones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Security Officer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51814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Joel Engstrom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Cyber Identity &amp; Access Management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51814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Al Cochran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Information Security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72388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Kalpa Chobe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Privacy, Security &amp; Technology Compliance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45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532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(7/10)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82675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19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Kevin L. Hart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Strategic Development and Technology - Northern California Region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0953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Rick Dale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Engineering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Prithish Negi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Application Delivery Services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41527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Jim Gruher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IT Service Systems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Zack Ryan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Northern California Business Information Officer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82675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Ken Mudge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IT Strategic Technologies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82675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Adam VanAlbrecht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Clinical Ancillary Technologies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09747" y="3817620"/>
            <a:ext cx="61722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097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671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671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819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819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819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(8/10)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62101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245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Rakesh Patel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Health Plan IT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41527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Sarang A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Information Officer, Clinical Ancillary Technologies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62101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Kim Stone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Membership, Health Plan Technology Services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62101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Sandra Hueb Previde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Information Technology | Telehealth &amp; Kaiser Permanente School of Medicine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67147" y="3817620"/>
            <a:ext cx="20574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671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245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245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245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(9/10)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9296247" y="1888235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10647" y="25100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38627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2967227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Bridget Karlin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Information Technology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10666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Tom Cooper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Interim Vice President, Application Services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31240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Melva Jeter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Network Services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31240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Catherine Buzzini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KPHC Revenue Management, Care Delivery Technology Services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51814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Ralph Bowman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Southern California and Hawaii IT Business Information Officer</a:t>
            </a:r>
          </a:p>
        </p:txBody>
      </p:sp>
      <p:sp>
        <p:nvSpPr>
          <p:cNvPr id="12" name="Snip Diagonal Corner Rectangle 11"/>
          <p:cNvSpPr/>
          <p:nvPr/>
        </p:nvSpPr>
        <p:spPr>
          <a:xfrm>
            <a:off x="72388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Sam Gambarin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Engineering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9296247" y="4046220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Jeff Johnson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IT Strategy &amp; Planning</a:t>
            </a:r>
          </a:p>
        </p:txBody>
      </p:sp>
      <p:sp>
        <p:nvSpPr>
          <p:cNvPr id="14" name="Snip Diagonal Corner Rectangle 13"/>
          <p:cNvSpPr/>
          <p:nvPr/>
        </p:nvSpPr>
        <p:spPr>
          <a:xfrm>
            <a:off x="9296247" y="5125212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70A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0AFCC"/>
                </a:solidFill>
                <a:latin typeface="Arial"/>
              </a:rPr>
              <a:t>Brian Thomas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Executive Director, Information Strategy and Care Transformation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35890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81047" y="3817620"/>
            <a:ext cx="8229600" cy="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810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384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384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384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58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532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0647" y="3817620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10647" y="46680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0647" y="4896612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687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649"/>
                </a:solidFill>
                <a:latin typeface="Arial"/>
              </a:rPr>
              <a:t>IT Org (10/10)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2700">
            <a:solidFill>
              <a:srgbClr val="D8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Diagonal Corner Rectangle 3"/>
          <p:cNvSpPr/>
          <p:nvPr/>
        </p:nvSpPr>
        <p:spPr>
          <a:xfrm>
            <a:off x="5181447" y="2427731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0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C3649"/>
                </a:solidFill>
                <a:latin typeface="Arial"/>
              </a:rPr>
              <a:t>Yazdi Bagli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Chief Information Officer, IT and Enterprise Business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30495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278123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nip Diagonal Corner Rectangle 6"/>
          <p:cNvSpPr/>
          <p:nvPr/>
        </p:nvSpPr>
        <p:spPr>
          <a:xfrm>
            <a:off x="5181447" y="3506723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34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47490"/>
                </a:solidFill>
                <a:latin typeface="Arial"/>
              </a:rPr>
              <a:t>Gustavo Pospischel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Senior Vice President, AI, Data, Digital and Shared Services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5181447" y="4585716"/>
            <a:ext cx="1828800" cy="621792"/>
          </a:xfrm>
          <a:prstGeom prst="snip2DiagRect">
            <a:avLst/>
          </a:prstGeom>
          <a:solidFill>
            <a:srgbClr val="FFFFFF"/>
          </a:solidFill>
          <a:ln w="12700">
            <a:solidFill>
              <a:srgbClr val="439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4396BB"/>
                </a:solidFill>
                <a:latin typeface="Arial"/>
              </a:rPr>
              <a:t>Daniel Yang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Vice President, AI and Emerging Technologies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4128515"/>
            <a:ext cx="0" cy="228601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4357116"/>
            <a:ext cx="0" cy="228600"/>
          </a:xfrm>
          <a:prstGeom prst="line">
            <a:avLst/>
          </a:prstGeom>
          <a:ln w="12700">
            <a:solidFill>
              <a:srgbClr val="9A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